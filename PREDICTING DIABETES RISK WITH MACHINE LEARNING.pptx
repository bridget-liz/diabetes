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  <p:sldId id="266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8" autoAdjust="0"/>
    <p:restoredTop sz="94660"/>
  </p:normalViewPr>
  <p:slideViewPr>
    <p:cSldViewPr snapToGrid="0">
      <p:cViewPr varScale="1">
        <p:scale>
          <a:sx n="59" d="100"/>
          <a:sy n="59" d="100"/>
        </p:scale>
        <p:origin x="7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9A38D-F0C4-493C-941A-D8B1139B50F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4E239A1-C698-488B-A22D-E5B9DC995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5112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9A38D-F0C4-493C-941A-D8B1139B50F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239A1-C698-488B-A22D-E5B9DC9954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4162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9A38D-F0C4-493C-941A-D8B1139B50F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239A1-C698-488B-A22D-E5B9DC995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8503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9A38D-F0C4-493C-941A-D8B1139B50F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239A1-C698-488B-A22D-E5B9DC9954BF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680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9A38D-F0C4-493C-941A-D8B1139B50F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239A1-C698-488B-A22D-E5B9DC9954BF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8244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9A38D-F0C4-493C-941A-D8B1139B50F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239A1-C698-488B-A22D-E5B9DC9954BF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4184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9A38D-F0C4-493C-941A-D8B1139B50F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239A1-C698-488B-A22D-E5B9DC995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927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9A38D-F0C4-493C-941A-D8B1139B50F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239A1-C698-488B-A22D-E5B9DC995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2039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D69A38D-F0C4-493C-941A-D8B1139B50F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239A1-C698-488B-A22D-E5B9DC9954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7189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9A38D-F0C4-493C-941A-D8B1139B50F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239A1-C698-488B-A22D-E5B9DC9954BF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0829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9A38D-F0C4-493C-941A-D8B1139B50F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239A1-C698-488B-A22D-E5B9DC995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7405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69A38D-F0C4-493C-941A-D8B1139B50F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4E239A1-C698-488B-A22D-E5B9DC995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3817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F3126-B52E-7584-CF36-ACDB51E6C9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11795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DIABETES RISK WITH MACHINE LEARNING.</a:t>
            </a:r>
            <a:br>
              <a:rPr lang="en-US" sz="4400" b="1" dirty="0"/>
            </a:br>
            <a:br>
              <a:rPr lang="en-US" b="1" dirty="0"/>
            </a:br>
            <a:r>
              <a:rPr lang="en-US" sz="3100" b="1" dirty="0"/>
              <a:t>An analysis of the PIMA Indians diabetes dataset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1791FF-C07C-0CB5-A7A2-B067D30E4D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1972" y="3729446"/>
            <a:ext cx="9144000" cy="2225040"/>
          </a:xfrm>
        </p:spPr>
        <p:txBody>
          <a:bodyPr/>
          <a:lstStyle/>
          <a:p>
            <a:pPr algn="ctr"/>
            <a:r>
              <a:rPr lang="en-US" b="1" dirty="0"/>
              <a:t>Group Two</a:t>
            </a:r>
          </a:p>
          <a:p>
            <a:pPr algn="ctr"/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9B23C15-69AD-0A45-E85E-E134EA159F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5637971"/>
              </p:ext>
            </p:extLst>
          </p:nvPr>
        </p:nvGraphicFramePr>
        <p:xfrm>
          <a:off x="2032000" y="4223657"/>
          <a:ext cx="8128000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7619446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06668904"/>
                    </a:ext>
                  </a:extLst>
                </a:gridCol>
              </a:tblGrid>
              <a:tr h="325120">
                <a:tc>
                  <a:txBody>
                    <a:bodyPr/>
                    <a:lstStyle/>
                    <a:p>
                      <a:r>
                        <a:rPr lang="en-US" dirty="0"/>
                        <a:t>NAMES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 NO.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8998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TURYA JOHN STEVEN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2023-B071-21285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0210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WALWASA NATHAN 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2023-B071-21203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8627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SSEMANDA JONATHAN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2023-B071-22335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447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NALULE CATHERINE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2023-B071-22337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941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NSUBUGA NICHOLAS PAUL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2023-B071-22173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8479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0616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D5F01-FAF3-6F9A-3D3B-7E97D4EC3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9C521-F095-7096-C7A5-1ACD5203B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Dataset.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PIMA Indians diabetes dataset</a:t>
            </a:r>
          </a:p>
          <a:p>
            <a:r>
              <a:rPr lang="en-US" b="1" dirty="0"/>
              <a:t>Objective.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To build and evaluate a machine learning model to predict the onset of diabetes based on diagnostic health measurements.</a:t>
            </a:r>
          </a:p>
          <a:p>
            <a:r>
              <a:rPr lang="en-US" b="1" dirty="0"/>
              <a:t>Methodology.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Data cleaning and preprocessing. Handled missing values and normalize data.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Exploratory Data Analysis (EDA). Visualized key features and their relationships.</a:t>
            </a:r>
          </a:p>
        </p:txBody>
      </p:sp>
    </p:spTree>
    <p:extLst>
      <p:ext uri="{BB962C8B-B14F-4D97-AF65-F5344CB8AC3E}">
        <p14:creationId xmlns:p14="http://schemas.microsoft.com/office/powerpoint/2010/main" val="2988623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FFD07-A9C2-8C9A-B1BC-F6125030F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Continuation.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B6F48-6770-EF3C-E9D2-98F9623AA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Methodology.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Feature engineering. Created new features to improve model performance i.e.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Categorical Feature Example; </a:t>
            </a:r>
            <a:r>
              <a:rPr lang="en-US" dirty="0" err="1"/>
              <a:t>BMI_Category</a:t>
            </a:r>
            <a:r>
              <a:rPr lang="en-US" dirty="0"/>
              <a:t> (e.g., 'Underweight', 'Normal', 'Overweight', 'Obese').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Interaction Feature Example; </a:t>
            </a:r>
            <a:r>
              <a:rPr lang="en-US" dirty="0" err="1"/>
              <a:t>Glucose_x_BMI</a:t>
            </a:r>
            <a:r>
              <a:rPr lang="en-US" dirty="0"/>
              <a:t> (multiplying a patient's glucose level by their BMI).</a:t>
            </a:r>
          </a:p>
          <a:p>
            <a:pPr marL="914400" lvl="2" indent="0">
              <a:buNone/>
            </a:pP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Modeling. Trained and evaluated Logistic Regression and Naïve Bayes models.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Reflection. Interpreted results in a clinical context.</a:t>
            </a:r>
          </a:p>
        </p:txBody>
      </p:sp>
    </p:spTree>
    <p:extLst>
      <p:ext uri="{BB962C8B-B14F-4D97-AF65-F5344CB8AC3E}">
        <p14:creationId xmlns:p14="http://schemas.microsoft.com/office/powerpoint/2010/main" val="835381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DA261-6138-A148-12AF-54A0F73BD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cleaning.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0A2A4-5FCF-6646-6C6F-520566280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Problem. </a:t>
            </a:r>
            <a:r>
              <a:rPr lang="en-US" dirty="0"/>
              <a:t>Key medical data like Glucose, Blood Pressure, and BMI contained impossible '0' values.</a:t>
            </a:r>
          </a:p>
          <a:p>
            <a:r>
              <a:rPr lang="en-US" b="1" dirty="0"/>
              <a:t>Solution.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Replaced Zeros. Converted all invalid '0's to </a:t>
            </a:r>
            <a:r>
              <a:rPr lang="en-US" dirty="0" err="1"/>
              <a:t>NaN</a:t>
            </a:r>
            <a:r>
              <a:rPr lang="en-US" dirty="0"/>
              <a:t> (missing values).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Imputation. Filled missing values with the </a:t>
            </a:r>
            <a:r>
              <a:rPr lang="en-US" b="1" dirty="0"/>
              <a:t>median </a:t>
            </a:r>
            <a:r>
              <a:rPr lang="en-US" dirty="0"/>
              <a:t>of each column. This is a robust method that is not sensitive to outliers.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Normalization. Scaled all features to a standard range to ensure fair comparison and stable model training.</a:t>
            </a:r>
          </a:p>
          <a:p>
            <a:r>
              <a:rPr lang="en-US" b="1" dirty="0"/>
              <a:t>Outcome.</a:t>
            </a:r>
            <a:r>
              <a:rPr lang="en-US" dirty="0"/>
              <a:t> A clean, complete dataset ready for analysis and modeling.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11104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26323-5C8B-F4CD-2E33-BCE95699F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Key insights from exploratory analysis (EDA)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1494F0-11AC-D8E5-F4F5-C07A859B5D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31667" y="2253342"/>
            <a:ext cx="5528665" cy="43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359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61B6E-2FA1-5005-04A1-9F2F63234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Continuation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94A83-97FC-FE3F-34D5-0738503C8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Glucose is the strongest indicator.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The boxplot clearly shows that patients with diabetes have significantly higher glucose levels.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A t-test confirmed this difference is statistically significant (p &lt; 0.001).</a:t>
            </a:r>
          </a:p>
          <a:p>
            <a:r>
              <a:rPr lang="en-US" dirty="0"/>
              <a:t>High correlation with outcome.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The correlation heatmap showed that glucose, BMI, and age have the strongest positive correlation with a diabetes diagnosis.</a:t>
            </a:r>
          </a:p>
          <a:p>
            <a:r>
              <a:rPr lang="en-US" dirty="0"/>
              <a:t> Dataset frequency.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The 95% confidence interval for diabetes prevalence in this dataset is approximately (31.6%, 38.3%).</a:t>
            </a:r>
          </a:p>
        </p:txBody>
      </p:sp>
    </p:spTree>
    <p:extLst>
      <p:ext uri="{BB962C8B-B14F-4D97-AF65-F5344CB8AC3E}">
        <p14:creationId xmlns:p14="http://schemas.microsoft.com/office/powerpoint/2010/main" val="902428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8610E-5791-0787-7E8F-EF925F2BA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 training and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B7188-293F-84F2-D71E-E7720487F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Models trained.</a:t>
            </a:r>
            <a:endParaRPr lang="en-US" dirty="0"/>
          </a:p>
          <a:p>
            <a:pPr lvl="1"/>
            <a:r>
              <a:rPr lang="en-US" dirty="0"/>
              <a:t>Logistic regression. A reliable and interpretable linear model.</a:t>
            </a:r>
          </a:p>
          <a:p>
            <a:pPr lvl="1"/>
            <a:r>
              <a:rPr lang="en-US" dirty="0"/>
              <a:t>Naïve bayes. A simple yet effective probabilistic classifier.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b="1" dirty="0"/>
              <a:t>Evaluation method.</a:t>
            </a:r>
            <a:endParaRPr lang="en-US" dirty="0"/>
          </a:p>
          <a:p>
            <a:pPr lvl="1"/>
            <a:r>
              <a:rPr lang="en-US" dirty="0"/>
              <a:t>5-fold cross-validation. This technique provides a robust measure of model performance by training and testing on 5 different subsets of the data. This helps ensure our results are not due to a single lucky train/test split.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427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EA09F-99C9-958C-C777-296E9206B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Model performance results.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222458-74FC-9B79-C43E-036712801C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6943" y="1934094"/>
            <a:ext cx="10515600" cy="246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288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A8AD1-96B9-364B-A186-FC9D2858D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Continuation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434BF-B0D0-8438-BBE2-F03F333C0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Key observation.</a:t>
            </a:r>
          </a:p>
          <a:p>
            <a:pPr marL="0" indent="0">
              <a:buNone/>
            </a:pPr>
            <a:endParaRPr lang="en-US" b="1" dirty="0"/>
          </a:p>
          <a:p>
            <a:pPr lvl="1"/>
            <a:r>
              <a:rPr lang="en-US" dirty="0"/>
              <a:t>Both models perform similarly, with </a:t>
            </a:r>
            <a:r>
              <a:rPr lang="en-US" b="1" dirty="0"/>
              <a:t>logistic regression</a:t>
            </a:r>
            <a:r>
              <a:rPr lang="en-US" dirty="0"/>
              <a:t> having a slight edge in overall accuracy and precision.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b="1" dirty="0"/>
              <a:t>Naïve bayes</a:t>
            </a:r>
            <a:r>
              <a:rPr lang="en-US" dirty="0"/>
              <a:t> has a slightly better </a:t>
            </a:r>
            <a:r>
              <a:rPr lang="en-US" b="1" dirty="0"/>
              <a:t>recall</a:t>
            </a:r>
            <a:r>
              <a:rPr lang="en-US" dirty="0"/>
              <a:t>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99445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193C9-2B56-75EB-E34C-5218F6D61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Features that are most important.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8D246F-69F5-093E-4FA3-7DC06CDA38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7961" y="2016125"/>
            <a:ext cx="4190402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092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90666-43A6-91EC-016D-D8E27E12B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Continuation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EE05D-5AC5-4A23-6960-3E267B1B3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Conclusion.</a:t>
            </a:r>
          </a:p>
          <a:p>
            <a:pPr marL="0" indent="0">
              <a:buNone/>
            </a:pPr>
            <a:endParaRPr lang="en-US" b="1" dirty="0"/>
          </a:p>
          <a:p>
            <a:pPr lvl="1"/>
            <a:r>
              <a:rPr lang="en-US" dirty="0"/>
              <a:t>As revealed by the logistic regression model, </a:t>
            </a:r>
            <a:r>
              <a:rPr lang="en-US" b="1" dirty="0"/>
              <a:t>glucose</a:t>
            </a:r>
            <a:r>
              <a:rPr lang="en-US" dirty="0"/>
              <a:t> is by far the most important predictive feature.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b="1" dirty="0"/>
              <a:t>BMI</a:t>
            </a:r>
            <a:r>
              <a:rPr lang="en-US" dirty="0"/>
              <a:t> and </a:t>
            </a:r>
            <a:r>
              <a:rPr lang="en-US" b="1" dirty="0"/>
              <a:t>Age</a:t>
            </a:r>
            <a:r>
              <a:rPr lang="en-US" dirty="0"/>
              <a:t> (from EDA) are also highly influential. This aligns perfectly with clinical knowledge.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915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6EEBA-CBB0-CF4E-E4FA-5087E143B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Recall verses precision in a clinical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D1EA8-4142-FFBC-5F4A-1E0011DFD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8375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Which error is worse?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/>
              <a:t>False positive (Low precision).</a:t>
            </a:r>
            <a:r>
              <a:rPr lang="en-US" dirty="0"/>
              <a:t> Telling a healthy patient they might have diabetes. (leads to extra testing, anxiety).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/>
              <a:t>False negative (low recall).</a:t>
            </a:r>
            <a:r>
              <a:rPr lang="en-US" dirty="0"/>
              <a:t> Telling a diabetic patient that they are healthy. (leads to no treatment and severe health complications).</a:t>
            </a:r>
          </a:p>
          <a:p>
            <a:r>
              <a:rPr lang="en-US" b="1" dirty="0"/>
              <a:t>Ethical implications.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A missed diagnosis (false negative) is far more dangerous.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Therefore, for a medical screening tool, recall is the most critical metric. We want to identify as many true positive cases as possible.</a:t>
            </a:r>
          </a:p>
          <a:p>
            <a:r>
              <a:rPr lang="en-US" b="1" dirty="0"/>
              <a:t>Model choice.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/>
              <a:t>Naïve bayes</a:t>
            </a:r>
            <a:r>
              <a:rPr lang="en-US" dirty="0"/>
              <a:t> has a slightly higher Recall (0.597) than logistic regression (0.564).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It better balances the need to minimize missed diagnoses, making it a slightly better choice in this specific clinical context despite its lower overall accuracy.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858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CA13D-4502-0A20-F380-4EC64C8F7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B84AA-4CA6-6CDE-D294-3726F0DB2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710112"/>
          </a:xfrm>
        </p:spPr>
        <p:txBody>
          <a:bodyPr>
            <a:normAutofit/>
          </a:bodyPr>
          <a:lstStyle/>
          <a:p>
            <a:r>
              <a:rPr lang="en-US" b="1" dirty="0"/>
              <a:t>Conclusions.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We can predict diabetes with reasonable accuracy (around 75-77%) using standard clinical data.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Glucose level is the dominant predictive factor.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In this context, the naive bayes model is slightly preferred because it achieves a better Recall, which is crucial for minimizing missed diagnoses.</a:t>
            </a:r>
          </a:p>
          <a:p>
            <a:r>
              <a:rPr lang="en-US" b="1" dirty="0"/>
              <a:t>Suggestions for improvement.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/>
              <a:t>Collect more data.</a:t>
            </a:r>
            <a:r>
              <a:rPr lang="en-US" dirty="0"/>
              <a:t> Incorporate features like family history, diet, and exercise levels.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/>
              <a:t>Use advanced models:</a:t>
            </a:r>
            <a:r>
              <a:rPr lang="en-US" dirty="0"/>
              <a:t> Explore models like Random Forest or Gradient Boosting, which may capture more complex patterns.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/>
              <a:t>Tune for recall:</a:t>
            </a:r>
            <a:r>
              <a:rPr lang="en-US" dirty="0"/>
              <a:t> Use techniques to optimize the models specifically for higher recall, accepting a potential trade-off in precision.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01462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23</TotalTime>
  <Words>771</Words>
  <Application>Microsoft Office PowerPoint</Application>
  <PresentationFormat>Widescreen</PresentationFormat>
  <Paragraphs>86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Gill Sans MT</vt:lpstr>
      <vt:lpstr>Times New Roman</vt:lpstr>
      <vt:lpstr>Wingdings</vt:lpstr>
      <vt:lpstr>Gallery</vt:lpstr>
      <vt:lpstr>PREDICTING DIABETES RISK WITH MACHINE LEARNING.  An analysis of the PIMA Indians diabetes dataset</vt:lpstr>
      <vt:lpstr>Overview</vt:lpstr>
      <vt:lpstr>Continuation.</vt:lpstr>
      <vt:lpstr>Data cleaning.</vt:lpstr>
      <vt:lpstr>Key insights from exploratory analysis (EDA)</vt:lpstr>
      <vt:lpstr>Continuation</vt:lpstr>
      <vt:lpstr>Model training and evaluation</vt:lpstr>
      <vt:lpstr>Model performance results.</vt:lpstr>
      <vt:lpstr>Continuation</vt:lpstr>
      <vt:lpstr>Features that are most important.</vt:lpstr>
      <vt:lpstr>Continuation</vt:lpstr>
      <vt:lpstr>Recall verses precision in a clinical context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STEVEN</dc:creator>
  <cp:lastModifiedBy>JOHN STEVEN</cp:lastModifiedBy>
  <cp:revision>20</cp:revision>
  <dcterms:created xsi:type="dcterms:W3CDTF">2025-10-01T13:04:30Z</dcterms:created>
  <dcterms:modified xsi:type="dcterms:W3CDTF">2025-10-01T13:28:03Z</dcterms:modified>
</cp:coreProperties>
</file>